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  <p:sldId id="266" r:id="rId4"/>
    <p:sldId id="267" r:id="rId5"/>
    <p:sldId id="264" r:id="rId6"/>
    <p:sldId id="259" r:id="rId7"/>
    <p:sldId id="263" r:id="rId8"/>
    <p:sldId id="265" r:id="rId9"/>
    <p:sldId id="269" r:id="rId10"/>
    <p:sldId id="260" r:id="rId11"/>
    <p:sldId id="268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02"/>
    <p:restoredTop sz="94668"/>
  </p:normalViewPr>
  <p:slideViewPr>
    <p:cSldViewPr snapToGrid="0">
      <p:cViewPr varScale="1">
        <p:scale>
          <a:sx n="105" d="100"/>
          <a:sy n="105" d="100"/>
        </p:scale>
        <p:origin x="16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A723-E071-F498-1558-7FAF918F1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B8175-9319-44C6-E33C-DA7EDBB34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BD73C-C21C-E181-5017-F66FB7739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0F75-9410-8A44-80E7-0B6BB3B287E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EB101-BE50-B9EF-9136-A1E58AA80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5A70F-2163-272C-EE68-34650D0B3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AC22A-F4A5-B140-904B-CA740B3A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5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0C35-CD8B-3B98-D00E-F9AFDC03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EFD2C-EC28-6386-3E7D-34FE76429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96CD0-3B97-FBF3-5ACD-36C7C33CA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0F75-9410-8A44-80E7-0B6BB3B287E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4DF69-34B2-BE47-C932-6386963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33FF-525A-C3D5-0F85-5D8C793F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AC22A-F4A5-B140-904B-CA740B3A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0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DFBF-975D-2A87-04B2-663439B6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E7B6F-E36D-8099-753B-A95CA09B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C89FB-CCED-6DE9-DFD4-C5B9169BD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0F75-9410-8A44-80E7-0B6BB3B287E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988D2-6F2F-2331-8AE7-A1A58469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81EF9-EDF4-A0FB-A894-D46D14910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AC22A-F4A5-B140-904B-CA740B3A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16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E72A-75AF-4396-AC74-3B2CEC7F4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CE068-CD3B-064E-38EB-6D20269CA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07736-D765-72D6-DEAB-00AE23E78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EA753-1645-28AE-B0D7-B9270FA4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0F75-9410-8A44-80E7-0B6BB3B287E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75C5E-5309-24D6-DA5F-AA0A64A2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AFF0B-FF0B-7A26-345E-76685456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AC22A-F4A5-B140-904B-CA740B3A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A600-7DE2-3FC0-915D-5735A441E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65CA3-822C-43D4-3F1E-132A8A225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824AF-DD21-F35A-6695-AE6E699A8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8D6807-C64D-3975-8BD8-BF739DFBF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CD346-C650-EE4A-F650-763632146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F3AB3-6320-4550-D3A9-6174DD2C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0F75-9410-8A44-80E7-0B6BB3B287E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8C69BA-91A5-E41B-83A4-B6497880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EA01DF-9EB2-17A3-B194-B4D310E8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AC22A-F4A5-B140-904B-CA740B3A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42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415C6-3FAB-C9E1-8EC6-6E9AEF25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B5CD1-5CC4-0558-B1FD-CA503533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0F75-9410-8A44-80E7-0B6BB3B287E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927CB-A407-4B7D-2CA3-F54D04B3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550F1-96D0-112B-4236-93B315E3A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AC22A-F4A5-B140-904B-CA740B3A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18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0C7788-66A1-75C8-2B39-CA259660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0F75-9410-8A44-80E7-0B6BB3B287E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FE0A1-2741-31EE-BD85-6B92E05A6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698DB-642F-45EC-63CA-E92F708E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AC22A-F4A5-B140-904B-CA740B3A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93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A4AA8-50D9-9BF8-F483-22691DA3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511F8-8946-A08C-D884-0A0573E0C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34F25-E388-64DA-5540-FB11C5227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EF566-0323-A3DB-19CE-DB01D49D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0F75-9410-8A44-80E7-0B6BB3B287E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777F1-50C5-97DB-9BA0-2E6D65E2C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F3DD3-D130-9B99-FACD-D989C48E2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AC22A-F4A5-B140-904B-CA740B3A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35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7B092-45AE-E451-6F5B-2C04476AC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7AD2ED-0BD9-7E12-13B2-305D7BBAB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12647-FFB7-C992-1294-7010D492D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27C70-3766-587A-2482-13C4217A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0F75-9410-8A44-80E7-0B6BB3B287E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7E102-45F4-41E0-9F98-5689DF583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AFEC2-582F-B9F9-2D9C-43DBF24F5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AC22A-F4A5-B140-904B-CA740B3A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70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E1725-E62D-4D24-41A9-553189130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C5906-07DB-8726-966B-483226E35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2B617-A540-211A-BA0C-F97BC2C7F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0F75-9410-8A44-80E7-0B6BB3B287E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47771-963C-4DD1-787A-BA2CB599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88213-C07C-2C64-0931-B14550A7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AC22A-F4A5-B140-904B-CA740B3A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0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FEC22E-33F7-0FDC-79AB-35E0232590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890A4-59E1-1B97-06C9-65DEF81A1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C569F-F938-9AAF-9173-F051EF57A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0F75-9410-8A44-80E7-0B6BB3B287E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0DAE6-A314-CEAF-63DD-12EB4DBE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D47D7-48E1-9BD2-26A4-960DF70A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AC22A-F4A5-B140-904B-CA740B3A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5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ED6E32-01BC-8BA5-983F-82FCDE969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D9C2A-DAC7-BC12-9EA0-D0A54C0C7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C6FE7-C573-EEFB-F9DE-043ADD4B2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00F75-9410-8A44-80E7-0B6BB3B287E1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6431F-8CC8-E839-7A6B-5166DB08F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99C9E-D806-1102-06A4-615225554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AC22A-F4A5-B140-904B-CA740B3AB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7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F0E67-3600-3C50-1815-A0CA5DF8E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285"/>
            <a:ext cx="10515600" cy="1325563"/>
          </a:xfrm>
        </p:spPr>
        <p:txBody>
          <a:bodyPr/>
          <a:lstStyle/>
          <a:p>
            <a:r>
              <a:rPr lang="en-US" dirty="0"/>
              <a:t>Solution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35F5D-B70F-7F87-F366-D26B6D2C8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848"/>
            <a:ext cx="10515600" cy="4502848"/>
          </a:xfrm>
        </p:spPr>
        <p:txBody>
          <a:bodyPr/>
          <a:lstStyle/>
          <a:p>
            <a:pPr marL="800100" lvl="1" indent="-342900">
              <a:buAutoNum type="arabicPeriod"/>
            </a:pPr>
            <a:r>
              <a:rPr lang="en-US" dirty="0"/>
              <a:t>Azure Function APP that retrieves Key Vault Secret/Certificate</a:t>
            </a:r>
          </a:p>
          <a:p>
            <a:pPr marL="800100" lvl="1" indent="-342900">
              <a:buAutoNum type="arabicPeriod"/>
            </a:pPr>
            <a:endParaRPr lang="en-US" dirty="0"/>
          </a:p>
          <a:p>
            <a:pPr marL="800100" lvl="1" indent="-342900">
              <a:buAutoNum type="arabicPeriod"/>
            </a:pPr>
            <a:r>
              <a:rPr lang="en-US" dirty="0"/>
              <a:t>SPFX Webpart that invokes the Azure Function to get the secret.</a:t>
            </a:r>
          </a:p>
          <a:p>
            <a:pPr marL="800100" lvl="1" indent="-342900"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02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1FFFE-FA0A-C479-A619-1D7775F0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A75A7-FF69-B6C2-1EEB-1502C43C6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B0F0"/>
                </a:solidFill>
              </a:rPr>
              <a:t>https://</a:t>
            </a:r>
            <a:r>
              <a:rPr lang="en-US" sz="2400" dirty="0" err="1">
                <a:solidFill>
                  <a:srgbClr val="00B0F0"/>
                </a:solidFill>
              </a:rPr>
              <a:t>github.com</a:t>
            </a:r>
            <a:r>
              <a:rPr lang="en-US" sz="2400" dirty="0">
                <a:solidFill>
                  <a:srgbClr val="00B0F0"/>
                </a:solidFill>
              </a:rPr>
              <a:t>/</a:t>
            </a:r>
            <a:r>
              <a:rPr lang="en-US" sz="2400" dirty="0" err="1">
                <a:solidFill>
                  <a:srgbClr val="00B0F0"/>
                </a:solidFill>
              </a:rPr>
              <a:t>fussytroll</a:t>
            </a:r>
            <a:r>
              <a:rPr lang="en-US" sz="2400" dirty="0">
                <a:solidFill>
                  <a:srgbClr val="00B0F0"/>
                </a:solidFill>
              </a:rPr>
              <a:t>/Relearn/tree/main/</a:t>
            </a:r>
            <a:r>
              <a:rPr lang="en-US" sz="2400" dirty="0" err="1">
                <a:solidFill>
                  <a:srgbClr val="00B0F0"/>
                </a:solidFill>
              </a:rPr>
              <a:t>SPFXGetKeyVaultSecret</a:t>
            </a:r>
            <a:endParaRPr lang="en-US" sz="2400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Download the Code and open the folder named “</a:t>
            </a:r>
            <a:r>
              <a:rPr lang="en-US" dirty="0" err="1">
                <a:solidFill>
                  <a:srgbClr val="00B0F0"/>
                </a:solidFill>
              </a:rPr>
              <a:t>SPFXRetrieveKeyVaultSecret</a:t>
            </a:r>
            <a:r>
              <a:rPr lang="en-US" dirty="0"/>
              <a:t>”.</a:t>
            </a:r>
          </a:p>
          <a:p>
            <a:r>
              <a:rPr lang="en-US" dirty="0"/>
              <a:t>This folder has 3 Subfolders</a:t>
            </a:r>
          </a:p>
          <a:p>
            <a:r>
              <a:rPr lang="en-US" dirty="0" err="1"/>
              <a:t>AzFunctionProject</a:t>
            </a:r>
            <a:endParaRPr lang="en-US" dirty="0"/>
          </a:p>
          <a:p>
            <a:pPr lvl="1"/>
            <a:r>
              <a:rPr lang="en-US" dirty="0"/>
              <a:t>Scripts : PowerShell and Az CLI scripts to provision the Azure artefacts</a:t>
            </a:r>
          </a:p>
          <a:p>
            <a:pPr lvl="1"/>
            <a:r>
              <a:rPr lang="en-US" dirty="0" err="1"/>
              <a:t>AzFunctionProject</a:t>
            </a:r>
            <a:r>
              <a:rPr lang="en-US" dirty="0"/>
              <a:t>: Visual Studio Azure Function Project</a:t>
            </a:r>
          </a:p>
          <a:p>
            <a:pPr lvl="1"/>
            <a:r>
              <a:rPr lang="en-US" dirty="0" err="1"/>
              <a:t>SPFXProject</a:t>
            </a:r>
            <a:r>
              <a:rPr lang="en-US" dirty="0"/>
              <a:t>: SPFX </a:t>
            </a:r>
            <a:r>
              <a:rPr lang="en-US" dirty="0" err="1"/>
              <a:t>WebPart</a:t>
            </a:r>
            <a:r>
              <a:rPr lang="en-US" dirty="0"/>
              <a:t>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831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B795-70D9-3E5C-4D2D-A565BF7C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Provision Azure Artefacts [1]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2F31F-4EBC-C2E7-660A-DB0D8AD11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Prerequisites</a:t>
            </a:r>
          </a:p>
          <a:p>
            <a:pPr lvl="1"/>
            <a:r>
              <a:rPr lang="en-US" dirty="0"/>
              <a:t>PowerShell 7</a:t>
            </a:r>
          </a:p>
          <a:p>
            <a:pPr lvl="1"/>
            <a:r>
              <a:rPr lang="en-US" dirty="0"/>
              <a:t>Azure CLI</a:t>
            </a:r>
          </a:p>
          <a:p>
            <a:pPr lvl="1"/>
            <a:r>
              <a:rPr lang="en-US" dirty="0"/>
              <a:t>Azure Subscription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1. Start PS7 and run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solidFill>
                  <a:srgbClr val="00B0F0"/>
                </a:solidFill>
              </a:rPr>
              <a:t>AZ Login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22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81BCC-8730-7AB8-A4CD-AEA6F9CD0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DBE41-589E-338D-FC09-BF491BB96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Provision Azure Artefacts [2]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B1923-D614-6C9C-7DFC-BCABE133F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dirty="0"/>
              <a:t>2. Run </a:t>
            </a:r>
            <a:r>
              <a:rPr lang="en-US" dirty="0">
                <a:solidFill>
                  <a:srgbClr val="00B0F0"/>
                </a:solidFill>
              </a:rPr>
              <a:t>Scripts\Provision-AzFunctionApp.ps1 </a:t>
            </a:r>
            <a:r>
              <a:rPr lang="en-US" dirty="0"/>
              <a:t>to provision the following in your Azure Tenant</a:t>
            </a:r>
          </a:p>
          <a:p>
            <a:pPr lvl="1"/>
            <a:endParaRPr lang="en-US" dirty="0"/>
          </a:p>
          <a:p>
            <a:pPr marL="800100" lvl="1" indent="-342900">
              <a:buFont typeface="Wingdings" pitchFamily="2" charset="2"/>
              <a:buChar char="§"/>
            </a:pPr>
            <a:r>
              <a:rPr lang="en-US" dirty="0"/>
              <a:t>Function App (</a:t>
            </a:r>
            <a:r>
              <a:rPr lang="en-US" dirty="0">
                <a:solidFill>
                  <a:srgbClr val="FF0000"/>
                </a:solidFill>
              </a:rPr>
              <a:t>Using Function Authentication</a:t>
            </a:r>
            <a:r>
              <a:rPr lang="en-US" dirty="0"/>
              <a:t>)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dirty="0"/>
              <a:t>Enable Managed Identity 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dirty="0"/>
              <a:t>App Analytics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dirty="0"/>
              <a:t>Assign “Monitoring Metrices Publisher” role to Function app’s Managed Identity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dirty="0"/>
              <a:t>Storage Account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dirty="0"/>
              <a:t>Assign ‘</a:t>
            </a:r>
            <a:r>
              <a:rPr lang="en-US" dirty="0">
                <a:solidFill>
                  <a:srgbClr val="00B0F0"/>
                </a:solidFill>
              </a:rPr>
              <a:t>Storage Blob Data Owner’</a:t>
            </a:r>
            <a:r>
              <a:rPr lang="en-US" dirty="0"/>
              <a:t> role to Function app’s Managed Identity</a:t>
            </a:r>
          </a:p>
          <a:p>
            <a:pPr marL="800100" lvl="1" indent="-342900">
              <a:buFont typeface="Wingdings" pitchFamily="2" charset="2"/>
              <a:buChar char="§"/>
            </a:pPr>
            <a:r>
              <a:rPr lang="en-US" dirty="0"/>
              <a:t>Key Vault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dirty="0"/>
              <a:t>Grant ‘</a:t>
            </a:r>
            <a:r>
              <a:rPr lang="en-GB" dirty="0">
                <a:solidFill>
                  <a:srgbClr val="00B0F0"/>
                </a:solidFill>
              </a:rPr>
              <a:t>Key Vault Certificate User</a:t>
            </a:r>
            <a:r>
              <a:rPr lang="en-GB" dirty="0"/>
              <a:t>’ role to Function app’s Managed Identity Key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dirty="0"/>
              <a:t>Grant ‘</a:t>
            </a:r>
            <a:r>
              <a:rPr lang="en-GB" dirty="0">
                <a:solidFill>
                  <a:srgbClr val="00B0F0"/>
                </a:solidFill>
              </a:rPr>
              <a:t>Key Vault Secrets User</a:t>
            </a:r>
            <a:r>
              <a:rPr lang="en-GB" dirty="0"/>
              <a:t>’ role to Function app’s Managed Identity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83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27D09-7C9E-D073-2333-3F57701B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Vault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53AF0-E525-F3D2-1EBE-0A30B5257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Navigate to the Key Vault in Azure Portal</a:t>
            </a:r>
          </a:p>
          <a:p>
            <a:r>
              <a:rPr lang="en-US" dirty="0"/>
              <a:t>Note down the Key Vault URL to add to Environment variables in Functions App</a:t>
            </a:r>
          </a:p>
          <a:p>
            <a:r>
              <a:rPr lang="en-US" dirty="0"/>
              <a:t>Assign “</a:t>
            </a:r>
            <a:r>
              <a:rPr lang="en-US" dirty="0">
                <a:solidFill>
                  <a:srgbClr val="00B0F0"/>
                </a:solidFill>
              </a:rPr>
              <a:t>Key vault certificates officer</a:t>
            </a:r>
            <a:r>
              <a:rPr lang="en-US" dirty="0"/>
              <a:t>” to user responsible for uploading certificates.</a:t>
            </a:r>
          </a:p>
          <a:p>
            <a:r>
              <a:rPr lang="en-US" dirty="0"/>
              <a:t>Assign “</a:t>
            </a:r>
            <a:r>
              <a:rPr lang="en-US" dirty="0">
                <a:solidFill>
                  <a:srgbClr val="00B0F0"/>
                </a:solidFill>
              </a:rPr>
              <a:t>Key vault Secrets officer</a:t>
            </a:r>
            <a:r>
              <a:rPr lang="en-US" dirty="0"/>
              <a:t>” to user responsible for adding Secrets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037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64DF6-2D6C-3CEE-C1DF-D5DAF64A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and Import Self Signed Certificate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CC54E-E806-3502-AE76-3FDBA0BF5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Steps below require PnP PowerShell</a:t>
            </a:r>
          </a:p>
          <a:p>
            <a:r>
              <a:rPr lang="en-US" dirty="0"/>
              <a:t>Create a certificate (</a:t>
            </a:r>
            <a:r>
              <a:rPr lang="en-US" sz="2400" dirty="0">
                <a:solidFill>
                  <a:srgbClr val="00B0F0"/>
                </a:solidFill>
              </a:rPr>
              <a:t>Scripts\New-SelfSignedAzureCertificate.ps1)</a:t>
            </a:r>
            <a:endParaRPr lang="en-US" sz="2000" dirty="0">
              <a:solidFill>
                <a:srgbClr val="00B0F0"/>
              </a:solidFill>
            </a:endParaRPr>
          </a:p>
          <a:p>
            <a:r>
              <a:rPr lang="en-US" dirty="0"/>
              <a:t>Login to Azure Portal with “</a:t>
            </a:r>
            <a:r>
              <a:rPr lang="en-US" dirty="0">
                <a:solidFill>
                  <a:srgbClr val="00B0F0"/>
                </a:solidFill>
              </a:rPr>
              <a:t>Key vault certificates officer</a:t>
            </a:r>
            <a:r>
              <a:rPr lang="en-US" dirty="0"/>
              <a:t>” role</a:t>
            </a:r>
          </a:p>
          <a:p>
            <a:r>
              <a:rPr lang="en-US" dirty="0"/>
              <a:t>From “All Resources” select the Key Vault</a:t>
            </a:r>
          </a:p>
          <a:p>
            <a:r>
              <a:rPr lang="en-US" dirty="0"/>
              <a:t>Navigate to </a:t>
            </a:r>
            <a:r>
              <a:rPr lang="en-US" dirty="0">
                <a:solidFill>
                  <a:srgbClr val="00B0F0"/>
                </a:solidFill>
              </a:rPr>
              <a:t>Objects &gt; Certificate</a:t>
            </a:r>
            <a:r>
              <a:rPr lang="en-US" dirty="0"/>
              <a:t> and import the the PFX file generated in previous step</a:t>
            </a:r>
          </a:p>
          <a:p>
            <a:r>
              <a:rPr lang="en-US" dirty="0"/>
              <a:t>Note down the Certificate Name to add to Environment Variables in Functions App</a:t>
            </a:r>
          </a:p>
        </p:txBody>
      </p:sp>
    </p:spTree>
    <p:extLst>
      <p:ext uri="{BB962C8B-B14F-4D97-AF65-F5344CB8AC3E}">
        <p14:creationId xmlns:p14="http://schemas.microsoft.com/office/powerpoint/2010/main" val="118718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C609-3BB9-C63E-B4EA-4CA4FA85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Key vault secret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F2654-E04F-F95A-D0E9-A5E7F9270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Login to Azure Portal with “</a:t>
            </a:r>
            <a:r>
              <a:rPr lang="en-US" dirty="0">
                <a:solidFill>
                  <a:srgbClr val="00B0F0"/>
                </a:solidFill>
              </a:rPr>
              <a:t>Key vault secrets officer</a:t>
            </a:r>
            <a:r>
              <a:rPr lang="en-US" dirty="0"/>
              <a:t>” role</a:t>
            </a:r>
          </a:p>
          <a:p>
            <a:r>
              <a:rPr lang="en-US" dirty="0"/>
              <a:t>From “All Resources” select the Key Vault</a:t>
            </a:r>
          </a:p>
          <a:p>
            <a:r>
              <a:rPr lang="en-US" dirty="0"/>
              <a:t>Navigate to </a:t>
            </a:r>
            <a:r>
              <a:rPr lang="en-US" dirty="0">
                <a:solidFill>
                  <a:srgbClr val="00B0F0"/>
                </a:solidFill>
              </a:rPr>
              <a:t>Objects &gt; Secrets</a:t>
            </a:r>
            <a:r>
              <a:rPr lang="en-US" dirty="0"/>
              <a:t> and create a new Manual Secret. use Thumbprint of Certificate generated in previous step as value</a:t>
            </a:r>
          </a:p>
          <a:p>
            <a:r>
              <a:rPr lang="en-US" dirty="0"/>
              <a:t>Note down the “Name” to add to Add to Environment variables in Function App.</a:t>
            </a:r>
          </a:p>
          <a:p>
            <a:r>
              <a:rPr lang="en-US" dirty="0"/>
              <a:t>Optional: set the start and expiry date.</a:t>
            </a:r>
          </a:p>
          <a:p>
            <a:r>
              <a:rPr lang="en-US" dirty="0"/>
              <a:t>ensure it is </a:t>
            </a:r>
            <a:r>
              <a:rPr lang="en-US" dirty="0">
                <a:solidFill>
                  <a:srgbClr val="00B0F0"/>
                </a:solidFill>
              </a:rPr>
              <a:t>enabled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738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4886-FFCB-7035-3EBA-10752341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App: Add Environment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E8F5-12B1-9A06-5DA0-2937F7C78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Log on to Azure Portal and Navigate to the Function App</a:t>
            </a:r>
          </a:p>
          <a:p>
            <a:pPr marL="0" indent="0">
              <a:buNone/>
            </a:pPr>
            <a:r>
              <a:rPr lang="en-US" dirty="0"/>
              <a:t>Navigate to </a:t>
            </a:r>
            <a:r>
              <a:rPr lang="en-US" dirty="0">
                <a:solidFill>
                  <a:srgbClr val="00B0F0"/>
                </a:solidFill>
              </a:rPr>
              <a:t>Settings &gt; Environment Variables </a:t>
            </a:r>
            <a:r>
              <a:rPr lang="en-US" dirty="0"/>
              <a:t>and add 3 environment variables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KeyVaultUrl</a:t>
            </a:r>
            <a:r>
              <a:rPr lang="en-US" dirty="0"/>
              <a:t> : URL of the key vault</a:t>
            </a:r>
          </a:p>
          <a:p>
            <a:pPr marL="0" indent="0">
              <a:buNone/>
            </a:pPr>
            <a:r>
              <a:rPr lang="en-US" dirty="0" err="1"/>
              <a:t>CertificateSecretName</a:t>
            </a:r>
            <a:r>
              <a:rPr lang="en-US" dirty="0"/>
              <a:t> : “Name” of the Certificate Secret in Key Vault</a:t>
            </a:r>
          </a:p>
          <a:p>
            <a:pPr marL="0" indent="0">
              <a:buNone/>
            </a:pPr>
            <a:r>
              <a:rPr lang="en-US" dirty="0" err="1"/>
              <a:t>ThumbprintSecretName</a:t>
            </a:r>
            <a:r>
              <a:rPr lang="en-US" dirty="0"/>
              <a:t> : “Name” of the Thumbprint Secret in Key Vault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832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F8AD4-843D-9994-BF3B-166C360E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F2B2-98B1-017A-4227-4B2058AC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App: CORS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2C3F6-F976-0EB6-86E8-051EF344B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Log on to Azure Portal and Navigate to the Function App</a:t>
            </a:r>
          </a:p>
          <a:p>
            <a:pPr marL="0" indent="0">
              <a:buNone/>
            </a:pPr>
            <a:r>
              <a:rPr lang="en-US" dirty="0"/>
              <a:t>Navigate to </a:t>
            </a:r>
            <a:r>
              <a:rPr lang="en-US" dirty="0">
                <a:solidFill>
                  <a:srgbClr val="00B0F0"/>
                </a:solidFill>
              </a:rPr>
              <a:t>API &gt; CORS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/>
              <a:t>Ensure “Enable Access-Control-Allow-Credentials” is  checked</a:t>
            </a:r>
          </a:p>
          <a:p>
            <a:pPr marL="0" indent="0">
              <a:buNone/>
            </a:pPr>
            <a:r>
              <a:rPr lang="en-US" dirty="0"/>
              <a:t>Add your SharePoint Tenant URL in allowed origins.</a:t>
            </a:r>
          </a:p>
        </p:txBody>
      </p:sp>
    </p:spTree>
    <p:extLst>
      <p:ext uri="{BB962C8B-B14F-4D97-AF65-F5344CB8AC3E}">
        <p14:creationId xmlns:p14="http://schemas.microsoft.com/office/powerpoint/2010/main" val="497849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3D1D-19D3-C327-AB47-C8CD904C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App : Visual Studio [1]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FC1A8-3175-C645-3B6F-F9EF8DEC2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US" dirty="0"/>
              <a:t>Azure Function Project with following config</a:t>
            </a:r>
          </a:p>
          <a:p>
            <a:pPr marL="742950" lvl="1" indent="-285750"/>
            <a:r>
              <a:rPr lang="en-US" dirty="0"/>
              <a:t>Function Worker :  .NET 8.0 Isolated</a:t>
            </a:r>
          </a:p>
          <a:p>
            <a:pPr marL="742950" lvl="1" indent="-285750"/>
            <a:r>
              <a:rPr lang="en-US" dirty="0"/>
              <a:t>Function/Trigger:  Http Trigger</a:t>
            </a:r>
          </a:p>
          <a:p>
            <a:pPr marL="742950" lvl="1" indent="-285750"/>
            <a:r>
              <a:rPr lang="en-US" dirty="0"/>
              <a:t>Authorization Level : Function </a:t>
            </a:r>
          </a:p>
          <a:p>
            <a:pPr marL="742950" lvl="1" indent="-285750"/>
            <a:r>
              <a:rPr lang="en-US" dirty="0"/>
              <a:t>Uncheck everything else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928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A8F98-8552-C49D-57A0-C60E0193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9050C-0921-B4A6-84C1-9049B3CD3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App : Visual Studio [2]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5095E-B82D-090B-0FC5-631CBA89A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US" dirty="0"/>
              <a:t>Project uses following NuGet  packages</a:t>
            </a:r>
          </a:p>
          <a:p>
            <a:pPr marL="742950" lvl="1" indent="-285750"/>
            <a:r>
              <a:rPr lang="en-US" dirty="0"/>
              <a:t>Azure Security </a:t>
            </a:r>
            <a:r>
              <a:rPr lang="en-US" dirty="0" err="1"/>
              <a:t>KeyVault.Secrets</a:t>
            </a:r>
            <a:endParaRPr lang="en-US" dirty="0"/>
          </a:p>
          <a:p>
            <a:pPr marL="742950" lvl="1" indent="-285750"/>
            <a:r>
              <a:rPr lang="en-US" dirty="0"/>
              <a:t>Azure Security </a:t>
            </a:r>
            <a:r>
              <a:rPr lang="en-US" dirty="0" err="1"/>
              <a:t>KeyVault.Certificates</a:t>
            </a:r>
            <a:endParaRPr lang="en-US" dirty="0"/>
          </a:p>
          <a:p>
            <a:pPr marL="742950" lvl="1" indent="-285750"/>
            <a:endParaRPr lang="en-US" dirty="0"/>
          </a:p>
          <a:p>
            <a:pPr marL="285750" indent="-285750"/>
            <a:r>
              <a:rPr lang="en-US" dirty="0"/>
              <a:t>Project contains following two functions</a:t>
            </a:r>
          </a:p>
          <a:p>
            <a:pPr marL="742950" lvl="1" indent="-285750"/>
            <a:r>
              <a:rPr lang="en-US" dirty="0" err="1"/>
              <a:t>FunctionGetKeyVaultSecret</a:t>
            </a:r>
            <a:endParaRPr lang="en-US" dirty="0"/>
          </a:p>
          <a:p>
            <a:pPr marL="1200150" lvl="2" indent="-285750"/>
            <a:r>
              <a:rPr lang="en-US" dirty="0"/>
              <a:t>Retrieves a </a:t>
            </a:r>
            <a:r>
              <a:rPr lang="en-US" dirty="0" err="1"/>
              <a:t>KeyVault</a:t>
            </a:r>
            <a:r>
              <a:rPr lang="en-US" dirty="0"/>
              <a:t> Secret.</a:t>
            </a:r>
          </a:p>
          <a:p>
            <a:pPr marL="742950" lvl="1" indent="-285750"/>
            <a:r>
              <a:rPr lang="en-US" dirty="0" err="1"/>
              <a:t>FunctionGetKeyVaultCertificate</a:t>
            </a:r>
            <a:endParaRPr lang="en-US" dirty="0"/>
          </a:p>
          <a:p>
            <a:pPr marL="1200150" lvl="2" indent="-285750"/>
            <a:r>
              <a:rPr lang="en-US" dirty="0"/>
              <a:t>Retrieves </a:t>
            </a:r>
            <a:r>
              <a:rPr lang="en-US" dirty="0" err="1"/>
              <a:t>KeyVault</a:t>
            </a:r>
            <a:r>
              <a:rPr lang="en-US" dirty="0"/>
              <a:t> Certificate.</a:t>
            </a:r>
          </a:p>
        </p:txBody>
      </p:sp>
    </p:spTree>
    <p:extLst>
      <p:ext uri="{BB962C8B-B14F-4D97-AF65-F5344CB8AC3E}">
        <p14:creationId xmlns:p14="http://schemas.microsoft.com/office/powerpoint/2010/main" val="3330292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B4C39-F9E1-4E38-852E-452065ADF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5270D-8989-C9C6-5A7A-A12BBC5D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SPFX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7B9E4-236B-A228-F806-B5C040470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/>
            <a:r>
              <a:rPr lang="en-US" dirty="0"/>
              <a:t>Project contains a simple SPFX React Webpart</a:t>
            </a:r>
          </a:p>
          <a:p>
            <a:pPr marL="285750" indent="-285750"/>
            <a:r>
              <a:rPr lang="en-US" dirty="0"/>
              <a:t>After adding webpart to page, Set the properties for the Function URLs</a:t>
            </a:r>
          </a:p>
          <a:p>
            <a:pPr marL="285750" indent="-285750"/>
            <a:r>
              <a:rPr lang="en-US" dirty="0"/>
              <a:t>Code uses </a:t>
            </a:r>
            <a:r>
              <a:rPr lang="en-US" dirty="0" err="1"/>
              <a:t>HttpClient</a:t>
            </a:r>
            <a:r>
              <a:rPr lang="en-US" dirty="0"/>
              <a:t> to invoke Function using URL and retrieves response as text.</a:t>
            </a:r>
          </a:p>
          <a:p>
            <a:pPr marL="285750" indent="-2857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17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9233-BB51-4E92-1048-4D17CB323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F3AA0-0BCD-3213-12AE-234F0BAE7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Entra App to secure the Function App instead of Access Keys.</a:t>
            </a:r>
          </a:p>
          <a:p>
            <a:r>
              <a:rPr lang="en-US" dirty="0"/>
              <a:t>In SPFX project use </a:t>
            </a:r>
            <a:r>
              <a:rPr lang="en-US" dirty="0" err="1"/>
              <a:t>aadHttpClient</a:t>
            </a:r>
            <a:r>
              <a:rPr lang="en-US" dirty="0"/>
              <a:t> instead of </a:t>
            </a:r>
            <a:r>
              <a:rPr lang="en-US" dirty="0" err="1"/>
              <a:t>HttpClient</a:t>
            </a:r>
            <a:r>
              <a:rPr lang="en-US" dirty="0"/>
              <a:t> for e.g.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err="1">
                <a:solidFill>
                  <a:srgbClr val="00B0F0"/>
                </a:solidFill>
              </a:rPr>
              <a:t>aadHttpClientFactory.getClient</a:t>
            </a:r>
            <a:r>
              <a:rPr lang="en-US" dirty="0">
                <a:solidFill>
                  <a:srgbClr val="00B0F0"/>
                </a:solidFill>
              </a:rPr>
              <a:t>(&lt;</a:t>
            </a:r>
            <a:r>
              <a:rPr lang="en-US" dirty="0" err="1">
                <a:solidFill>
                  <a:srgbClr val="00B0F0"/>
                </a:solidFill>
              </a:rPr>
              <a:t>EntraAppId</a:t>
            </a:r>
            <a:r>
              <a:rPr lang="en-US" dirty="0">
                <a:solidFill>
                  <a:srgbClr val="00B0F0"/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B0F0"/>
                </a:solidFill>
              </a:rPr>
              <a:t>.then((client)=&gt;{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B0F0"/>
                </a:solidFill>
              </a:rPr>
              <a:t>	</a:t>
            </a:r>
            <a:r>
              <a:rPr lang="en-US" dirty="0" err="1">
                <a:solidFill>
                  <a:srgbClr val="00B0F0"/>
                </a:solidFill>
              </a:rPr>
              <a:t>client.get</a:t>
            </a:r>
            <a:r>
              <a:rPr lang="en-US" dirty="0">
                <a:solidFill>
                  <a:srgbClr val="00B0F0"/>
                </a:solidFill>
              </a:rPr>
              <a:t>(&lt;</a:t>
            </a:r>
            <a:r>
              <a:rPr lang="en-US" dirty="0" err="1">
                <a:solidFill>
                  <a:srgbClr val="00B0F0"/>
                </a:solidFill>
              </a:rPr>
              <a:t>functionUrl</a:t>
            </a:r>
            <a:r>
              <a:rPr lang="en-US" dirty="0">
                <a:solidFill>
                  <a:srgbClr val="00B0F0"/>
                </a:solidFill>
              </a:rPr>
              <a:t> ………..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B0F0"/>
                </a:solidFill>
              </a:rPr>
              <a:t>})……</a:t>
            </a:r>
          </a:p>
        </p:txBody>
      </p:sp>
    </p:spTree>
    <p:extLst>
      <p:ext uri="{BB962C8B-B14F-4D97-AF65-F5344CB8AC3E}">
        <p14:creationId xmlns:p14="http://schemas.microsoft.com/office/powerpoint/2010/main" val="2873814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646</Words>
  <Application>Microsoft Macintosh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Solution Components</vt:lpstr>
      <vt:lpstr>Solution Location</vt:lpstr>
      <vt:lpstr>Provision Azure Artefacts [1]</vt:lpstr>
      <vt:lpstr>Provision Azure Artefacts [2]</vt:lpstr>
      <vt:lpstr>Key Vault setup</vt:lpstr>
      <vt:lpstr>Create and Import Self Signed Certificate</vt:lpstr>
      <vt:lpstr>Create a Key vault secret</vt:lpstr>
      <vt:lpstr>Function App: Add Environment Variables</vt:lpstr>
      <vt:lpstr>Function App: CORS config</vt:lpstr>
      <vt:lpstr>Function App : Visual Studio [1]</vt:lpstr>
      <vt:lpstr>Function App : Visual Studio [2]</vt:lpstr>
      <vt:lpstr>SPFX Solution</vt:lpstr>
      <vt:lpstr>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Talwar Sanjay</dc:creator>
  <cp:lastModifiedBy>Fussy Yaksha</cp:lastModifiedBy>
  <cp:revision>5</cp:revision>
  <dcterms:created xsi:type="dcterms:W3CDTF">2025-11-04T19:09:30Z</dcterms:created>
  <dcterms:modified xsi:type="dcterms:W3CDTF">2025-11-05T12:44:46Z</dcterms:modified>
</cp:coreProperties>
</file>